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Profit ($)</c:v>
                </c:pt>
              </c:strCache>
            </c:strRef>
          </c:tx>
          <c:spPr>
            <a:solidFill>
              <a:srgbClr val="5C3A2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211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Fun Dip</c:v>
                  </c:pt>
                  <c:pt idx="1">
                    <c:v>Nerds</c:v>
                  </c:pt>
                  <c:pt idx="2">
                    <c:v>SweeTARTS</c:v>
                  </c:pt>
                  <c:pt idx="3">
                    <c:v>Laffy Taffy</c:v>
                  </c:pt>
                  <c:pt idx="4">
                    <c:v>Fizzy Lifting Drinks</c:v>
                  </c:pt>
                  <c:pt idx="5">
                    <c:v>Hair Toffee</c:v>
                  </c:pt>
                  <c:pt idx="6">
                    <c:v>Kazookles</c:v>
                  </c:pt>
                  <c:pt idx="7">
                    <c:v>Everlasting Gobstopper</c:v>
                  </c:pt>
                  <c:pt idx="8">
                    <c:v>Wonka Gum</c:v>
                  </c:pt>
                  <c:pt idx="9">
                    <c:v>Lickable Wallpaper</c:v>
                  </c:pt>
                  <c:pt idx="10">
                    <c:v>Wonka Bar - Fudge Mallows</c:v>
                  </c:pt>
                  <c:pt idx="11">
                    <c:v>Wonka Bar - Nutty Crunch Surprise</c:v>
                  </c:pt>
                  <c:pt idx="12">
                    <c:v>Wonka Bar - Milk Chocolate</c:v>
                  </c:pt>
                  <c:pt idx="13">
                    <c:v>Wonka Bar - Triple Dazzle Caramel</c:v>
                  </c:pt>
                  <c:pt idx="14">
                    <c:v>Wonka Bar -Scrumdiddlyumptious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5</c:v>
                </c:pt>
                <c:pt idx="1">
                  <c:v>7</c:v>
                </c:pt>
                <c:pt idx="2">
                  <c:v>29</c:v>
                </c:pt>
                <c:pt idx="3">
                  <c:v>33</c:v>
                </c:pt>
                <c:pt idx="4">
                  <c:v>47</c:v>
                </c:pt>
                <c:pt idx="5">
                  <c:v>60</c:v>
                </c:pt>
                <c:pt idx="6">
                  <c:v>93</c:v>
                </c:pt>
                <c:pt idx="7">
                  <c:v>104</c:v>
                </c:pt>
                <c:pt idx="8">
                  <c:v>311</c:v>
                </c:pt>
                <c:pt idx="9">
                  <c:v>3930</c:v>
                </c:pt>
                <c:pt idx="10">
                  <c:v>16594</c:v>
                </c:pt>
                <c:pt idx="11">
                  <c:v>16820</c:v>
                </c:pt>
                <c:pt idx="12">
                  <c:v>17443</c:v>
                </c:pt>
                <c:pt idx="13">
                  <c:v>18610</c:v>
                </c:pt>
                <c:pt idx="14">
                  <c:v>19358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B211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B211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DD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B2416"/>
                </a:solidFill>
                <a:latin typeface="Arial"/>
              </a:defRPr>
            </a:pPr>
            <a:r>
              <a:rPr sz="1300" b="0" i="0" u="none" strike="noStrike">
                <a:solidFill>
                  <a:srgbClr val="3B2416"/>
                </a:solidFill>
                <a:latin typeface="Arial"/>
              </a:rPr>
              <a:t>Revenue vs Gross Profit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($)</c:v>
                </c:pt>
              </c:strCache>
            </c:strRef>
          </c:tx>
          <c:spPr>
            <a:solidFill>
              <a:srgbClr val="C994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Chocolate</c:v>
                  </c:pt>
                  <c:pt idx="1">
                    <c:v>Other</c:v>
                  </c:pt>
                  <c:pt idx="2">
                    <c:v>Sugar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131693</c:v>
                </c:pt>
                <c:pt idx="1">
                  <c:v>9663</c:v>
                </c:pt>
                <c:pt idx="2">
                  <c:v>427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Profit ($)</c:v>
                </c:pt>
              </c:strCache>
            </c:strRef>
          </c:tx>
          <c:spPr>
            <a:solidFill>
              <a:srgbClr val="3D8B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Chocolate</c:v>
                  </c:pt>
                  <c:pt idx="1">
                    <c:v>Other</c:v>
                  </c:pt>
                  <c:pt idx="2">
                    <c:v>Sugar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88825</c:v>
                </c:pt>
                <c:pt idx="1">
                  <c:v>4333</c:v>
                </c:pt>
                <c:pt idx="2">
                  <c:v>285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211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DD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B211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B2416"/>
                </a:solidFill>
                <a:latin typeface="Arial"/>
              </a:defRPr>
            </a:pPr>
            <a:r>
              <a:rPr sz="1300" b="0" i="0" u="none" strike="noStrike">
                <a:solidFill>
                  <a:srgbClr val="3B2416"/>
                </a:solidFill>
                <a:latin typeface="Arial"/>
              </a:rPr>
              <a:t>Gross Margin by Division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spPr>
            <a:solidFill>
              <a:srgbClr val="5C3A2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11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Chocolate</c:v>
                  </c:pt>
                  <c:pt idx="1">
                    <c:v>Other</c:v>
                  </c:pt>
                  <c:pt idx="2">
                    <c:v>Sugar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67.45</c:v>
                </c:pt>
                <c:pt idx="1">
                  <c:v>44.84</c:v>
                </c:pt>
                <c:pt idx="2">
                  <c:v>66.61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2B211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211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DD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B2416"/>
                </a:solidFill>
                <a:latin typeface="Arial"/>
              </a:defRPr>
            </a:pPr>
            <a:r>
              <a:rPr sz="1300" b="0" i="0" u="none" strike="noStrike">
                <a:solidFill>
                  <a:srgbClr val="3B2416"/>
                </a:solidFill>
                <a:latin typeface="Arial"/>
              </a:rPr>
              <a:t>Gross Profit by Factory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Profit ($)</c:v>
                </c:pt>
              </c:strCache>
            </c:strRef>
          </c:tx>
          <c:spPr>
            <a:solidFill>
              <a:srgbClr val="3D8B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Sugar Shack</c:v>
                  </c:pt>
                  <c:pt idx="1">
                    <c:v>The Other Factory</c:v>
                  </c:pt>
                  <c:pt idx="2">
                    <c:v>Secret Factory</c:v>
                  </c:pt>
                  <c:pt idx="3">
                    <c:v>Wicked Choccy's</c:v>
                  </c:pt>
                  <c:pt idx="4">
                    <c:v>Lot's O' Nuts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121</c:v>
                </c:pt>
                <c:pt idx="1">
                  <c:v>152</c:v>
                </c:pt>
                <c:pt idx="2">
                  <c:v>4345</c:v>
                </c:pt>
                <c:pt idx="3">
                  <c:v>36054</c:v>
                </c:pt>
                <c:pt idx="4">
                  <c:v>52771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211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DD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B2416"/>
                </a:solidFill>
                <a:latin typeface="Arial"/>
              </a:defRPr>
            </a:pPr>
            <a:r>
              <a:rPr sz="1300" b="0" i="0" u="none" strike="noStrike">
                <a:solidFill>
                  <a:srgbClr val="3B2416"/>
                </a:solidFill>
                <a:latin typeface="Arial"/>
              </a:rPr>
              <a:t>Gross Margin by Factory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spPr>
            <a:solidFill>
              <a:srgbClr val="B23A2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23A2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942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942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942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942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The Other Factory</c:v>
                  </c:pt>
                  <c:pt idx="1">
                    <c:v>Secret Factory</c:v>
                  </c:pt>
                  <c:pt idx="2">
                    <c:v>Sugar Shack</c:v>
                  </c:pt>
                  <c:pt idx="3">
                    <c:v>Wicked Choccy's</c:v>
                  </c:pt>
                  <c:pt idx="4">
                    <c:v>Lot's O' Nuts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11.87</c:v>
                </c:pt>
                <c:pt idx="1">
                  <c:v>50.59</c:v>
                </c:pt>
                <c:pt idx="2">
                  <c:v>54.86</c:v>
                </c:pt>
                <c:pt idx="3">
                  <c:v>65.13</c:v>
                </c:pt>
                <c:pt idx="4">
                  <c:v>69.13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211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DD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Line Profitability &amp;</a:t>
            </a:r>
            <a:endParaRPr lang="en-US" sz="4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 Performance Analysis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20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Nassau Candy Distributor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40233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FC2"/>
                </a:solidFill>
              </a:rPr>
              <a:t>Data Scientist Internship Project  |  Unified Mentor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3A290"/>
                </a:solidFill>
              </a:rPr>
              <a:t>10,194 transactions analyzed  •  15 products  •  3 divisions  •  5 factories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Context &amp; Problem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65836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B2416"/>
                </a:solidFill>
              </a:rPr>
              <a:t>Sales volume alone is misleading.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2B2118"/>
                </a:solidFill>
              </a:rPr>
              <a:t>Some products sell in high volume but generate low profit, consume disproportionate manufacturing cost, or appear successful while weakening overall margins.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B2118"/>
                </a:solidFill>
              </a:rPr>
              <a:t>This project answers four questions for Nassau Candy: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B2118"/>
                </a:solidFill>
              </a:rPr>
              <a:t>Which products truly drive profit?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B2118"/>
                </a:solidFill>
              </a:rPr>
              <a:t>Which divisions underperform financially?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B2118"/>
                </a:solidFill>
              </a:rPr>
              <a:t>Where is pricing, sourcing, or rationalization needed?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B2118"/>
                </a:solidFill>
              </a:rPr>
              <a:t>How concentrated is profit risk across the portfolio?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452360" y="1463040"/>
            <a:ext cx="4160520" cy="4754880"/>
          </a:xfrm>
          <a:prstGeom prst="roundRect">
            <a:avLst>
              <a:gd name="adj" fmla="val 2198"/>
            </a:avLst>
          </a:prstGeom>
          <a:solidFill>
            <a:srgbClr val="3B2416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0" y="1691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42C"/>
                </a:solidFill>
              </a:rPr>
              <a:t>Dataset at a glance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80960" y="22402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CFC2"/>
                </a:solidFill>
              </a:rPr>
              <a:t>Records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92640" y="22402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10,194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80960" y="27432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CFC2"/>
                </a:solidFill>
              </a:rPr>
              <a:t>Products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92640" y="27432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0" y="32461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CFC2"/>
                </a:solidFill>
              </a:rPr>
              <a:t>Divisions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92640" y="32461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80960" y="37490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CFC2"/>
                </a:solidFill>
              </a:rPr>
              <a:t>Order period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92640" y="37490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Jan 2024 - Dec 2025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80960" y="42519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CFC2"/>
                </a:solidFill>
              </a:rPr>
              <a:t>Missing values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92640" y="42519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80960" y="47548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CFC2"/>
                </a:solidFill>
              </a:rPr>
              <a:t>Duplicate rows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92640" y="47548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Analytical Methodology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FBFAF8"/>
          </a:solidFill>
          <a:ln w="12700">
            <a:solidFill>
              <a:srgbClr val="E4DDD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737360"/>
            <a:ext cx="411480" cy="411480"/>
          </a:xfrm>
          <a:prstGeom prst="ellipse">
            <a:avLst/>
          </a:prstGeom>
          <a:solidFill>
            <a:srgbClr val="C9942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71907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416"/>
                </a:solidFill>
              </a:rPr>
              <a:t>Data Cleaning &amp; Validation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038"/>
                </a:solidFill>
              </a:rPr>
              <a:t>Checked nulls, duplicates, invalid sales/units, and the Sales - Cost = Gross Profit identity.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34840" y="1554480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FBFAF8"/>
          </a:solidFill>
          <a:ln w="12700">
            <a:solidFill>
              <a:srgbClr val="E4DD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1737360"/>
            <a:ext cx="411480" cy="411480"/>
          </a:xfrm>
          <a:prstGeom prst="ellipse">
            <a:avLst/>
          </a:prstGeom>
          <a:solidFill>
            <a:srgbClr val="C9942C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171907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416"/>
                </a:solidFill>
              </a:rPr>
              <a:t>Profitability Metrics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22402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038"/>
                </a:solidFill>
              </a:rPr>
              <a:t>Gross margin %, profit per unit, revenue &amp; profit contribution per product.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21040" y="1554480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FBFAF8"/>
          </a:solidFill>
          <a:ln w="12700">
            <a:solidFill>
              <a:srgbClr val="E4DD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0" y="1737360"/>
            <a:ext cx="411480" cy="411480"/>
          </a:xfrm>
          <a:prstGeom prst="ellipse">
            <a:avLst/>
          </a:prstGeom>
          <a:solidFill>
            <a:srgbClr val="C9942C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06840" y="171907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416"/>
                </a:solidFill>
              </a:rPr>
              <a:t>Product &amp; Division Analysis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03920" y="22402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038"/>
                </a:solidFill>
              </a:rPr>
              <a:t>Ranked by profit and margin; flagged high-sales/low-margin risk.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291840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FBFAF8"/>
          </a:solidFill>
          <a:ln w="12700">
            <a:solidFill>
              <a:srgbClr val="E4DD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474720"/>
            <a:ext cx="411480" cy="411480"/>
          </a:xfrm>
          <a:prstGeom prst="ellipse">
            <a:avLst/>
          </a:prstGeom>
          <a:solidFill>
            <a:srgbClr val="C9942C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345643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416"/>
                </a:solidFill>
              </a:rPr>
              <a:t>Pareto Concentration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39776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038"/>
                </a:solidFill>
              </a:rPr>
              <a:t>Identified the products driving 80% of revenue and profit.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34840" y="3291840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FBFAF8"/>
          </a:solidFill>
          <a:ln w="12700">
            <a:solidFill>
              <a:srgbClr val="E4DDD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3474720"/>
            <a:ext cx="411480" cy="411480"/>
          </a:xfrm>
          <a:prstGeom prst="ellipse">
            <a:avLst/>
          </a:prstGeom>
          <a:solidFill>
            <a:srgbClr val="C9942C"/>
          </a:solidFill>
          <a:ln/>
        </p:spPr>
      </p:sp>
      <p:sp>
        <p:nvSpPr>
          <p:cNvPr id="25" name="Text 23"/>
          <p:cNvSpPr/>
          <p:nvPr/>
        </p:nvSpPr>
        <p:spPr>
          <a:xfrm>
            <a:off x="461772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120640" y="345643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416"/>
                </a:solidFill>
              </a:rPr>
              <a:t>Cost Diagnostics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17720" y="39776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038"/>
                </a:solidFill>
              </a:rPr>
              <a:t>Cost-vs-sales scatter to flag repricing / renegotiation candidates.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321040" y="3291840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FBFAF8"/>
          </a:solidFill>
          <a:ln w="12700">
            <a:solidFill>
              <a:srgbClr val="E4DDD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03920" y="3474720"/>
            <a:ext cx="411480" cy="411480"/>
          </a:xfrm>
          <a:prstGeom prst="ellipse">
            <a:avLst/>
          </a:prstGeom>
          <a:solidFill>
            <a:srgbClr val="C9942C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006840" y="345643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416"/>
                </a:solidFill>
              </a:rPr>
              <a:t>Factory Correlation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503920" y="39776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038"/>
                </a:solidFill>
              </a:rPr>
              <a:t>Mapped every product to its factory and location.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Overall Performance KPIs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</a:rPr>
              <a:t>Full-period results across all products and divisions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FBFAF8"/>
          </a:solidFill>
          <a:ln w="12700">
            <a:solidFill>
              <a:srgbClr val="E4DD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64208"/>
            <a:ext cx="251460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$141,783.63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2514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Total Sales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55448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FBFAF8"/>
          </a:solidFill>
          <a:ln w="12700">
            <a:solidFill>
              <a:srgbClr val="E4DD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664208"/>
            <a:ext cx="251460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8B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$93,442.80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520440" y="2377440"/>
            <a:ext cx="2514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Total Gross Profit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55448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FBFAF8"/>
          </a:solidFill>
          <a:ln w="12700">
            <a:solidFill>
              <a:srgbClr val="E4DD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664208"/>
            <a:ext cx="251460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9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65.91%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0" y="2377440"/>
            <a:ext cx="2514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Overall Gross Margin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89720" y="155448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FBFAF8"/>
          </a:solidFill>
          <a:ln w="12700">
            <a:solidFill>
              <a:srgbClr val="E4DD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81160" y="1664208"/>
            <a:ext cx="251460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38,654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281160" y="2377440"/>
            <a:ext cx="2514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Total Units Sold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291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416"/>
                </a:solidFill>
              </a:rPr>
              <a:t>Highlights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3749040"/>
            <a:ext cx="110642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B2118"/>
                </a:solidFill>
              </a:rPr>
              <a:t>Highest gross profit: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B2118"/>
                </a:solidFill>
              </a:rPr>
              <a:t>Wonka Bar -Scrumdiddlyumptious ($19,357.50)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B2118"/>
                </a:solidFill>
              </a:rPr>
              <a:t>Highest gross margin: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B2118"/>
                </a:solidFill>
              </a:rPr>
              <a:t>Everlasting Gobstopper (80.00%)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B23A2F"/>
                </a:solidFill>
              </a:rPr>
              <a:t>Primary margin risk: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B23A2F"/>
                </a:solidFill>
              </a:rPr>
              <a:t>Kazookles (7.69% margin)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B2118"/>
                </a:solidFill>
              </a:rPr>
              <a:t>Concentration: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B2118"/>
                </a:solidFill>
              </a:rPr>
              <a:t>5 of 15 products generate over 80% of gross profit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Gross-Profit Leaderboard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</a:rPr>
              <a:t>Ranked by total gross profit contribution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1124712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Division Performance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</a:rPr>
              <a:t>Chocolate is the dominant financial engine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55778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172200" y="1417320"/>
          <a:ext cx="55778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</a:rPr>
              <a:t>Chocolate: 92.88% of revenue and 95.06% of gross profit from a single division.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vs Sales Diagnostics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</a:rPr>
              <a:t>Bubble size = units sold, color = gross margin</a:t>
            </a:r>
            <a:endParaRPr lang="en-US" sz="1300" dirty="0"/>
          </a:p>
        </p:txBody>
      </p:sp>
      <p:pic>
        <p:nvPicPr>
          <p:cNvPr id="4" name="Image 0" descr="/home/claude/chart_cost_sa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1371600"/>
            <a:ext cx="6858000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64465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23A2F"/>
                </a:solidFill>
              </a:rPr>
              <a:t>Kazookles </a:t>
            </a:r>
            <a:pPr algn="ctr" indent="0" marL="0">
              <a:buNone/>
            </a:pPr>
            <a:r>
              <a:rPr lang="en-US" sz="1100" dirty="0">
                <a:solidFill>
                  <a:srgbClr val="2B2118"/>
                </a:solidFill>
              </a:rPr>
              <a:t>is the clear outlier: its cost consumes over 92% of sales value, versus 30-36% for the core chocolate bars.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 Concentration — Pareto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</a:rPr>
              <a:t>How many products drive most of the profit?</a:t>
            </a:r>
            <a:endParaRPr lang="en-US" sz="1300" dirty="0"/>
          </a:p>
        </p:txBody>
      </p:sp>
      <p:pic>
        <p:nvPicPr>
          <p:cNvPr id="4" name="Image 0" descr="/home/claude/chart_pareto_pro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25880"/>
            <a:ext cx="7863840" cy="52395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915400" y="1737360"/>
            <a:ext cx="2743200" cy="3108960"/>
          </a:xfrm>
          <a:prstGeom prst="roundRect">
            <a:avLst>
              <a:gd name="adj" fmla="val 3333"/>
            </a:avLst>
          </a:prstGeom>
          <a:solidFill>
            <a:srgbClr val="3B2416"/>
          </a:solidFill>
          <a:ln/>
        </p:spPr>
      </p:sp>
      <p:sp>
        <p:nvSpPr>
          <p:cNvPr id="6" name="Text 3"/>
          <p:cNvSpPr/>
          <p:nvPr/>
        </p:nvSpPr>
        <p:spPr>
          <a:xfrm>
            <a:off x="9098280" y="19659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9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of 15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9098280" y="26974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products generate over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80% of total gross profit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098280" y="3703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9CFC2"/>
                </a:solidFill>
              </a:rPr>
              <a:t>All five are chocolate bars — a structural dependency risk.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Factory Intelligence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</a:rPr>
              <a:t>Gross profit and margin by manufacturing factory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55778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172200" y="1417320"/>
          <a:ext cx="55778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BFAF8"/>
          </a:solidFill>
          <a:ln w="12700">
            <a:solidFill>
              <a:srgbClr val="E4DDD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64792"/>
            <a:ext cx="548640" cy="548640"/>
          </a:xfrm>
          <a:prstGeom prst="ellipse">
            <a:avLst/>
          </a:prstGeom>
          <a:solidFill>
            <a:srgbClr val="C9942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64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61848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416"/>
                </a:solidFill>
              </a:rPr>
              <a:t>Protect the core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0" y="1618488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118"/>
                </a:solidFill>
              </a:rPr>
              <a:t>Chocolate's five products carry ~95% of gross profit — safeguard pricing, supply and factory capacity at Lot's O' Nuts and Wicked Choccy's.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BFAF8"/>
          </a:solidFill>
          <a:ln w="12700">
            <a:solidFill>
              <a:srgbClr val="E4DD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953512"/>
            <a:ext cx="548640" cy="548640"/>
          </a:xfrm>
          <a:prstGeom prst="ellipse">
            <a:avLst/>
          </a:prstGeom>
          <a:solidFill>
            <a:srgbClr val="C9942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3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80720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416"/>
                </a:solidFill>
              </a:rPr>
              <a:t>Review Kazookles now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9120" y="2807208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118"/>
                </a:solidFill>
              </a:rPr>
              <a:t>7.69% margin is the clearest risk in the portfolio. Reprice, renegotiate supplier cost, or evaluate discontinuation.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BFAF8"/>
          </a:solidFill>
          <a:ln w="12700">
            <a:solidFill>
              <a:srgbClr val="E4DD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142232"/>
            <a:ext cx="548640" cy="548640"/>
          </a:xfrm>
          <a:prstGeom prst="ellipse">
            <a:avLst/>
          </a:prstGeom>
          <a:solidFill>
            <a:srgbClr val="C9942C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1422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54480" y="399592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416"/>
                </a:solidFill>
              </a:rPr>
              <a:t>Margin-based promotions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89120" y="3995928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118"/>
                </a:solidFill>
              </a:rPr>
              <a:t>Replace sales-volume promotion rules with margin-based rules so low-margin products stop receiving incentives that erode profit.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BFAF8"/>
          </a:solidFill>
          <a:ln w="12700">
            <a:solidFill>
              <a:srgbClr val="E4DD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5330952"/>
            <a:ext cx="548640" cy="548640"/>
          </a:xfrm>
          <a:prstGeom prst="ellipse">
            <a:avLst/>
          </a:prstGeom>
          <a:solidFill>
            <a:srgbClr val="C9942C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330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54480" y="518464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416"/>
                </a:solidFill>
              </a:rPr>
              <a:t>Monitor concentration risk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89120" y="5184648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118"/>
                </a:solidFill>
              </a:rPr>
              <a:t>Track the Pareto ratio monthly — a single chocolate supply disruption has an outsized company-wide impact.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B2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Streamlit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9CFC2"/>
                </a:solidFill>
              </a:rPr>
              <a:t>Interactive filters: date range, division, margin threshold, product search.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9CFC2"/>
                </a:solidFill>
              </a:rPr>
              <a:t>Modules: Product Profitability, Division Performance, Cost vs Margin, Pareto, Factory Intelligence.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94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locally:  pip install -r requirements.txt   →   streamlit run app.py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5120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A290"/>
                </a:solidFill>
              </a:rPr>
              <a:t>Nassau Candy Distributor — Product Line Profitability &amp; Margin Performance Analysis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2026-08-25T10:35:18Z</dcterms:created>
  <dcterms:modified xsi:type="dcterms:W3CDTF">2026-08-25T10:35:18Z</dcterms:modified>
</cp:coreProperties>
</file>